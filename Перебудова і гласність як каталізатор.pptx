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63040" y="2148840"/>
            <a:ext cx="9235440" cy="1828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4000" b="1" i="0">
                <a:solidFill>
                  <a:srgbClr val="243B5C"/>
                </a:solidFill>
                <a:latin typeface="Times New Roman"/>
                <a:cs typeface="Times New Roman"/>
                <a:ea typeface="Times New Roman"/>
              </a:rPr>
              <a:t>Перебудова і гласність як каталізатор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4160520"/>
            <a:ext cx="7955279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 marL="0" indent="0">
              <a:spcAft>
                <a:spcPts val="200"/>
              </a:spcAft>
              <a:buNone/>
            </a:pPr>
            <a:r>
              <a:rPr sz="1500" b="0" i="0">
                <a:solidFill>
                  <a:srgbClr val="4B5E78"/>
                </a:solidFill>
                <a:latin typeface="Times New Roman"/>
                <a:cs typeface="Times New Roman"/>
                <a:ea typeface="Times New Roman"/>
              </a:rPr>
              <a:t>Підготувала Савченко Тетяна Анатоліївна</a:t>
            </a:r>
          </a:p>
          <a:p>
            <a:pPr algn="ctr" marL="0" indent="0">
              <a:spcAft>
                <a:spcPts val="200"/>
              </a:spcAft>
              <a:buNone/>
            </a:pPr>
            <a:r>
              <a:rPr sz="1500" b="0" i="0">
                <a:solidFill>
                  <a:srgbClr val="4B5E78"/>
                </a:solidFill>
                <a:latin typeface="Times New Roman"/>
                <a:cs typeface="Times New Roman"/>
                <a:ea typeface="Times New Roman"/>
              </a:rPr>
              <a:t>1 курс, переклад з англійської та другої західноєвропейської мови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8912" y="365760"/>
            <a:ext cx="11311128" cy="6126480"/>
          </a:xfrm>
          <a:prstGeom prst="roundRect">
            <a:avLst>
              <a:gd name="adj" fmla="val 2500"/>
            </a:avLst>
          </a:prstGeom>
          <a:solidFill>
            <a:srgbClr val="FFFFFF">
              <a:alpha val="72000"/>
            </a:srgbClr>
          </a:solidFill>
          <a:ln w="12700">
            <a:solidFill>
              <a:srgbClr val="9CB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566928"/>
            <a:ext cx="10360151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>
              <a:buNone/>
            </a:pPr>
            <a:r>
              <a:rPr sz="2700" b="1" i="0">
                <a:solidFill>
                  <a:srgbClr val="243B5C"/>
                </a:solidFill>
                <a:latin typeface="Times New Roman"/>
                <a:cs typeface="Times New Roman"/>
                <a:ea typeface="Times New Roman"/>
              </a:rPr>
              <a:t>План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89888"/>
            <a:ext cx="10360151" cy="13970"/>
          </a:xfrm>
          <a:prstGeom prst="rect">
            <a:avLst/>
          </a:prstGeom>
          <a:solidFill>
            <a:srgbClr val="8FA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17904"/>
            <a:ext cx="10360151" cy="4745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indent="-219456" marL="219456" algn="l">
              <a:lnSpc>
                <a:spcPct val="110000"/>
              </a:lnSpc>
              <a:spcAft>
                <a:spcPts val="900"/>
              </a:spcAft>
              <a:buFont typeface="Arial"/>
              <a:buChar char="•"/>
            </a:pPr>
            <a:r>
              <a:rPr sz="19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Що таке перебудова і гласність</a:t>
            </a:r>
          </a:p>
          <a:p>
            <a:pPr indent="-219456" marL="219456" algn="l">
              <a:lnSpc>
                <a:spcPct val="110000"/>
              </a:lnSpc>
              <a:spcAft>
                <a:spcPts val="900"/>
              </a:spcAft>
              <a:buFont typeface="Arial"/>
              <a:buChar char="•"/>
            </a:pPr>
            <a:r>
              <a:rPr sz="19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Чому реформи взагалі почалися</a:t>
            </a:r>
          </a:p>
          <a:p>
            <a:pPr indent="-219456" marL="219456" algn="l">
              <a:lnSpc>
                <a:spcPct val="110000"/>
              </a:lnSpc>
              <a:spcAft>
                <a:spcPts val="900"/>
              </a:spcAft>
              <a:buFont typeface="Arial"/>
              <a:buChar char="•"/>
            </a:pPr>
            <a:r>
              <a:rPr sz="19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Чорнобиль: кінець офіційного мовчання</a:t>
            </a:r>
          </a:p>
          <a:p>
            <a:pPr indent="-219456" marL="219456" algn="l">
              <a:lnSpc>
                <a:spcPct val="110000"/>
              </a:lnSpc>
              <a:spcAft>
                <a:spcPts val="900"/>
              </a:spcAft>
              <a:buFont typeface="Arial"/>
              <a:buChar char="•"/>
            </a:pPr>
            <a:r>
              <a:rPr sz="19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Література, яку нарешті надрукували</a:t>
            </a:r>
          </a:p>
          <a:p>
            <a:pPr indent="-219456" marL="219456" algn="l">
              <a:lnSpc>
                <a:spcPct val="110000"/>
              </a:lnSpc>
              <a:spcAft>
                <a:spcPts val="900"/>
              </a:spcAft>
              <a:buFont typeface="Arial"/>
              <a:buChar char="•"/>
            </a:pPr>
            <a:r>
              <a:rPr sz="19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Мова, церква, історія: що повернули з-під заборони</a:t>
            </a:r>
          </a:p>
          <a:p>
            <a:pPr indent="-219456" marL="219456" algn="l">
              <a:lnSpc>
                <a:spcPct val="110000"/>
              </a:lnSpc>
              <a:spcAft>
                <a:spcPts val="900"/>
              </a:spcAft>
              <a:buFont typeface="Arial"/>
              <a:buChar char="•"/>
            </a:pPr>
            <a:r>
              <a:rPr sz="19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Від напівпідпільних гуртків до Народного руху</a:t>
            </a:r>
          </a:p>
          <a:p>
            <a:pPr indent="-219456" marL="219456" algn="l">
              <a:lnSpc>
                <a:spcPct val="110000"/>
              </a:lnSpc>
              <a:spcAft>
                <a:spcPts val="900"/>
              </a:spcAft>
              <a:buFont typeface="Arial"/>
              <a:buChar char="•"/>
            </a:pPr>
            <a:r>
              <a:rPr sz="19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1990: живий ланцюг, вибори, Декларація, граніт</a:t>
            </a:r>
          </a:p>
          <a:p>
            <a:pPr indent="-219456" marL="219456" algn="l">
              <a:lnSpc>
                <a:spcPct val="110000"/>
              </a:lnSpc>
              <a:spcAft>
                <a:spcPts val="900"/>
              </a:spcAft>
              <a:buFont typeface="Arial"/>
              <a:buChar char="•"/>
            </a:pPr>
            <a:r>
              <a:rPr sz="19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1991: путч, Акт про незалежність, референдум</a:t>
            </a:r>
          </a:p>
          <a:p>
            <a:pPr indent="-219456" marL="219456" algn="l">
              <a:lnSpc>
                <a:spcPct val="110000"/>
              </a:lnSpc>
              <a:spcAft>
                <a:spcPts val="900"/>
              </a:spcAft>
              <a:buFont typeface="Arial"/>
              <a:buChar char="•"/>
            </a:pPr>
            <a:r>
              <a:rPr sz="19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Висновок: чому саме «каталізатор»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10819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marL="0" indent="0">
              <a:buNone/>
            </a:pPr>
            <a:r>
              <a:rPr sz="1050" b="0" i="0">
                <a:solidFill>
                  <a:srgbClr val="4B5E78"/>
                </a:solidFill>
                <a:latin typeface="Times New Roman"/>
                <a:cs typeface="Times New Roman"/>
                <a:ea typeface="Times New Roman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8912" y="365760"/>
            <a:ext cx="11311128" cy="6126480"/>
          </a:xfrm>
          <a:prstGeom prst="roundRect">
            <a:avLst>
              <a:gd name="adj" fmla="val 2500"/>
            </a:avLst>
          </a:prstGeom>
          <a:solidFill>
            <a:srgbClr val="FFFFFF">
              <a:alpha val="72000"/>
            </a:srgbClr>
          </a:solidFill>
          <a:ln w="12700">
            <a:solidFill>
              <a:srgbClr val="9CB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566928"/>
            <a:ext cx="10360151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>
              <a:buNone/>
            </a:pPr>
            <a:r>
              <a:rPr sz="2700" b="1" i="0">
                <a:solidFill>
                  <a:srgbClr val="243B5C"/>
                </a:solidFill>
                <a:latin typeface="Times New Roman"/>
                <a:cs typeface="Times New Roman"/>
                <a:ea typeface="Times New Roman"/>
              </a:rPr>
              <a:t>Два слова, з яких усе почалося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89888"/>
            <a:ext cx="10360151" cy="13970"/>
          </a:xfrm>
          <a:prstGeom prst="rect">
            <a:avLst/>
          </a:prstGeom>
          <a:solidFill>
            <a:srgbClr val="8FA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17904"/>
            <a:ext cx="6473951" cy="4745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 algn="l">
              <a:lnSpc>
                <a:spcPct val="110000"/>
              </a:lnSpc>
              <a:spcAft>
                <a:spcPts val="1300"/>
              </a:spcAft>
              <a:buNone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Перебудова — це офіційна назва реформ, які Михайло Горбачов запустив у СРСР з 1985 року. Задум був такий: полагодити систему, а не ламати її.</a:t>
            </a:r>
          </a:p>
          <a:p>
            <a:pPr marL="0" indent="0" algn="l">
              <a:lnSpc>
                <a:spcPct val="110000"/>
              </a:lnSpc>
              <a:spcAft>
                <a:spcPts val="1300"/>
              </a:spcAft>
              <a:buNone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Гласність — частина тих самих реформ. Дозвіл говорити вголос про те, про що раніше мовчали: про дефіцит, аварії, корупцію, репресії, «білі плями» історії.</a:t>
            </a:r>
          </a:p>
          <a:p>
            <a:pPr marL="0" indent="0" algn="l">
              <a:lnSpc>
                <a:spcPct val="110000"/>
              </a:lnSpc>
              <a:spcAft>
                <a:spcPts val="1300"/>
              </a:spcAft>
              <a:buNone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Важливий нюанс: гласність — це не свобода слова в нашому розумінні. Це радше послаблена цензура, яку влада будь-коли могла підкрутити назад. Але навіть цього вистачило, щоб процес пішов набагато далі, ніж планували в Москві.</a:t>
            </a:r>
          </a:p>
        </p:txBody>
      </p:sp>
      <p:pic>
        <p:nvPicPr>
          <p:cNvPr id="7" name="Picture 6" descr="wkp_stam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271" y="2653245"/>
            <a:ext cx="3383280" cy="1615516"/>
          </a:xfrm>
          <a:prstGeom prst="rect">
            <a:avLst/>
          </a:prstGeom>
          <a:ln w="9525">
            <a:solidFill>
              <a:srgbClr val="ABC0D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891271" y="433277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950" b="0" i="1">
                <a:solidFill>
                  <a:srgbClr val="4B5E78"/>
                </a:solidFill>
                <a:latin typeface="Times New Roman"/>
                <a:cs typeface="Times New Roman"/>
                <a:ea typeface="Times New Roman"/>
              </a:rPr>
              <a:t>Радянська марка 1988 р.: «Прискорення. Демократизація. Гласність»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10819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marL="0" indent="0">
              <a:buNone/>
            </a:pPr>
            <a:r>
              <a:rPr sz="1050" b="0" i="0">
                <a:solidFill>
                  <a:srgbClr val="4B5E78"/>
                </a:solidFill>
                <a:latin typeface="Times New Roman"/>
                <a:cs typeface="Times New Roman"/>
                <a:ea typeface="Times New Roman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8912" y="365760"/>
            <a:ext cx="11311128" cy="6126480"/>
          </a:xfrm>
          <a:prstGeom prst="roundRect">
            <a:avLst>
              <a:gd name="adj" fmla="val 2500"/>
            </a:avLst>
          </a:prstGeom>
          <a:solidFill>
            <a:srgbClr val="FFFFFF">
              <a:alpha val="72000"/>
            </a:srgbClr>
          </a:solidFill>
          <a:ln w="12700">
            <a:solidFill>
              <a:srgbClr val="9CB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566928"/>
            <a:ext cx="10360151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>
              <a:buNone/>
            </a:pPr>
            <a:r>
              <a:rPr sz="2700" b="1" i="0">
                <a:solidFill>
                  <a:srgbClr val="243B5C"/>
                </a:solidFill>
                <a:latin typeface="Times New Roman"/>
                <a:cs typeface="Times New Roman"/>
                <a:ea typeface="Times New Roman"/>
              </a:rPr>
              <a:t>Чому реформи стали неминучими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89888"/>
            <a:ext cx="10360151" cy="13970"/>
          </a:xfrm>
          <a:prstGeom prst="rect">
            <a:avLst/>
          </a:prstGeom>
          <a:solidFill>
            <a:srgbClr val="8FA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17904"/>
            <a:ext cx="6473951" cy="4745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19456" marL="219456" algn="l">
              <a:lnSpc>
                <a:spcPct val="110000"/>
              </a:lnSpc>
              <a:spcAft>
                <a:spcPts val="1300"/>
              </a:spcAft>
              <a:buFont typeface="Arial"/>
              <a:buChar char="•"/>
            </a:pPr>
            <a:r>
              <a:rPr sz="18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Планова економіка не встигала за потребами людей: черги, дефіцит, талони на звичайні продукти</a:t>
            </a:r>
          </a:p>
          <a:p>
            <a:pPr indent="-219456" marL="219456" algn="l">
              <a:lnSpc>
                <a:spcPct val="110000"/>
              </a:lnSpc>
              <a:spcAft>
                <a:spcPts val="1300"/>
              </a:spcAft>
              <a:buFont typeface="Arial"/>
              <a:buChar char="•"/>
            </a:pPr>
            <a:r>
              <a:rPr sz="18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Бюджет тримався на нафті, а ціни на неї у 1980-х обвалилися</a:t>
            </a:r>
          </a:p>
          <a:p>
            <a:pPr indent="-219456" marL="219456" algn="l">
              <a:lnSpc>
                <a:spcPct val="110000"/>
              </a:lnSpc>
              <a:spcAft>
                <a:spcPts val="1300"/>
              </a:spcAft>
              <a:buFont typeface="Arial"/>
              <a:buChar char="•"/>
            </a:pPr>
            <a:r>
              <a:rPr sz="18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Війна в Афганістані (з 1979 року) коштувала грошей і життів</a:t>
            </a:r>
          </a:p>
          <a:p>
            <a:pPr indent="-219456" marL="219456" algn="l">
              <a:lnSpc>
                <a:spcPct val="110000"/>
              </a:lnSpc>
              <a:spcAft>
                <a:spcPts val="1300"/>
              </a:spcAft>
              <a:buFont typeface="Arial"/>
              <a:buChar char="•"/>
            </a:pPr>
            <a:r>
              <a:rPr sz="18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«Застій» у керівництві: за три роки, з 1982 по 1985, померли троє генсеків поспіль</a:t>
            </a:r>
          </a:p>
          <a:p>
            <a:pPr indent="-219456" marL="219456" algn="l">
              <a:lnSpc>
                <a:spcPct val="110000"/>
              </a:lnSpc>
              <a:spcAft>
                <a:spcPts val="1300"/>
              </a:spcAft>
              <a:buFont typeface="Arial"/>
              <a:buChar char="•"/>
            </a:pPr>
            <a:r>
              <a:rPr sz="18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Люди вже давно не вірили гаслам — просто вголос про це не говорили</a:t>
            </a:r>
          </a:p>
        </p:txBody>
      </p:sp>
      <p:pic>
        <p:nvPicPr>
          <p:cNvPr id="7" name="Picture 6" descr="wkp_sug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271" y="2246098"/>
            <a:ext cx="3383280" cy="2429810"/>
          </a:xfrm>
          <a:prstGeom prst="rect">
            <a:avLst/>
          </a:prstGeom>
          <a:ln w="9525">
            <a:solidFill>
              <a:srgbClr val="ABC0D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891271" y="4739917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950" b="0" i="1">
                <a:solidFill>
                  <a:srgbClr val="4B5E78"/>
                </a:solidFill>
                <a:latin typeface="Times New Roman"/>
                <a:cs typeface="Times New Roman"/>
                <a:ea typeface="Times New Roman"/>
              </a:rPr>
              <a:t>Талон на цукор, Київ, листопад 1988 р.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10819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marL="0" indent="0">
              <a:buNone/>
            </a:pPr>
            <a:r>
              <a:rPr sz="1050" b="0" i="0">
                <a:solidFill>
                  <a:srgbClr val="4B5E78"/>
                </a:solidFill>
                <a:latin typeface="Times New Roman"/>
                <a:cs typeface="Times New Roman"/>
                <a:ea typeface="Times New Roman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8912" y="365760"/>
            <a:ext cx="11311128" cy="6126480"/>
          </a:xfrm>
          <a:prstGeom prst="roundRect">
            <a:avLst>
              <a:gd name="adj" fmla="val 2500"/>
            </a:avLst>
          </a:prstGeom>
          <a:solidFill>
            <a:srgbClr val="FFFFFF">
              <a:alpha val="72000"/>
            </a:srgbClr>
          </a:solidFill>
          <a:ln w="12700">
            <a:solidFill>
              <a:srgbClr val="9CB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566928"/>
            <a:ext cx="10360151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>
              <a:buNone/>
            </a:pPr>
            <a:r>
              <a:rPr sz="2700" b="1" i="0">
                <a:solidFill>
                  <a:srgbClr val="243B5C"/>
                </a:solidFill>
                <a:latin typeface="Times New Roman"/>
                <a:cs typeface="Times New Roman"/>
                <a:ea typeface="Times New Roman"/>
              </a:rPr>
              <a:t>1985: старт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89888"/>
            <a:ext cx="10360151" cy="13970"/>
          </a:xfrm>
          <a:prstGeom prst="rect">
            <a:avLst/>
          </a:prstGeom>
          <a:solidFill>
            <a:srgbClr val="8FA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17904"/>
            <a:ext cx="6473951" cy="4745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19456" marL="219456" algn="l">
              <a:lnSpc>
                <a:spcPct val="110000"/>
              </a:lnSpc>
              <a:spcAft>
                <a:spcPts val="1300"/>
              </a:spcAft>
              <a:buFont typeface="Arial"/>
              <a:buChar char="•"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11 березня 1985 — Горбачов стає генеральним секретарем ЦК КПРС</a:t>
            </a:r>
          </a:p>
          <a:p>
            <a:pPr indent="-219456" marL="219456" algn="l">
              <a:lnSpc>
                <a:spcPct val="110000"/>
              </a:lnSpc>
              <a:spcAft>
                <a:spcPts val="1300"/>
              </a:spcAft>
              <a:buFont typeface="Arial"/>
              <a:buChar char="•"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Квітень 1985 — проголошено курс на «прискорення соціально-економічного розвитку»</a:t>
            </a:r>
          </a:p>
          <a:p>
            <a:pPr indent="-219456" marL="219456" algn="l">
              <a:lnSpc>
                <a:spcPct val="110000"/>
              </a:lnSpc>
              <a:spcAft>
                <a:spcPts val="1300"/>
              </a:spcAft>
              <a:buFont typeface="Arial"/>
              <a:buChar char="•"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1985 — антиалкогольна кампанія, одна з найбільш непопулярних ідей того часу</a:t>
            </a:r>
          </a:p>
          <a:p>
            <a:pPr indent="-219456" marL="219456" algn="l">
              <a:lnSpc>
                <a:spcPct val="110000"/>
              </a:lnSpc>
              <a:spcAft>
                <a:spcPts val="1300"/>
              </a:spcAft>
              <a:buFont typeface="Arial"/>
              <a:buChar char="•"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1987 — курс на «демократизацію»: виборність керівників, госпрозрахунок, кооперативи</a:t>
            </a:r>
          </a:p>
          <a:p>
            <a:pPr indent="-219456" marL="219456" algn="l">
              <a:lnSpc>
                <a:spcPct val="110000"/>
              </a:lnSpc>
              <a:spcAft>
                <a:spcPts val="1300"/>
              </a:spcAft>
              <a:buFont typeface="Arial"/>
              <a:buChar char="•"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У зовнішній політиці — переговори зі США; 1987 рік, договір про ліквідацію ракет середньої та меншої дальності</a:t>
            </a:r>
          </a:p>
        </p:txBody>
      </p:sp>
      <p:pic>
        <p:nvPicPr>
          <p:cNvPr id="7" name="Picture 6" descr="wkp_gorbachev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271" y="1531566"/>
            <a:ext cx="3383279" cy="3858875"/>
          </a:xfrm>
          <a:prstGeom prst="rect">
            <a:avLst/>
          </a:prstGeom>
          <a:ln w="9525">
            <a:solidFill>
              <a:srgbClr val="ABC0D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891271" y="5454449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950" b="0" i="1">
                <a:solidFill>
                  <a:srgbClr val="4B5E78"/>
                </a:solidFill>
                <a:latin typeface="Times New Roman"/>
                <a:cs typeface="Times New Roman"/>
                <a:ea typeface="Times New Roman"/>
              </a:rPr>
              <a:t>Михайло Горбачов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10819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marL="0" indent="0">
              <a:buNone/>
            </a:pPr>
            <a:r>
              <a:rPr sz="1050" b="0" i="0">
                <a:solidFill>
                  <a:srgbClr val="4B5E78"/>
                </a:solidFill>
                <a:latin typeface="Times New Roman"/>
                <a:cs typeface="Times New Roman"/>
                <a:ea typeface="Times New Roman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8912" y="365760"/>
            <a:ext cx="11311128" cy="6126480"/>
          </a:xfrm>
          <a:prstGeom prst="roundRect">
            <a:avLst>
              <a:gd name="adj" fmla="val 2500"/>
            </a:avLst>
          </a:prstGeom>
          <a:solidFill>
            <a:srgbClr val="FFFFFF">
              <a:alpha val="72000"/>
            </a:srgbClr>
          </a:solidFill>
          <a:ln w="12700">
            <a:solidFill>
              <a:srgbClr val="9CB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566928"/>
            <a:ext cx="10360151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>
              <a:buNone/>
            </a:pPr>
            <a:r>
              <a:rPr sz="2700" b="1" i="0">
                <a:solidFill>
                  <a:srgbClr val="243B5C"/>
                </a:solidFill>
                <a:latin typeface="Times New Roman"/>
                <a:cs typeface="Times New Roman"/>
                <a:ea typeface="Times New Roman"/>
              </a:rPr>
              <a:t>Як гласність виглядала на практиці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89888"/>
            <a:ext cx="10360151" cy="13970"/>
          </a:xfrm>
          <a:prstGeom prst="rect">
            <a:avLst/>
          </a:prstGeom>
          <a:solidFill>
            <a:srgbClr val="8FA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17904"/>
            <a:ext cx="6473951" cy="4745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19456" marL="219456" algn="l">
              <a:lnSpc>
                <a:spcPct val="110000"/>
              </a:lnSpc>
              <a:spcAft>
                <a:spcPts val="1300"/>
              </a:spcAft>
              <a:buFont typeface="Arial"/>
              <a:buChar char="•"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У пресі з'явилися теми, які раніше були табу: аварії, злочинність, наркоманія, сталінські репресії</a:t>
            </a:r>
          </a:p>
          <a:p>
            <a:pPr indent="-219456" marL="219456" algn="l">
              <a:lnSpc>
                <a:spcPct val="110000"/>
              </a:lnSpc>
              <a:spcAft>
                <a:spcPts val="1300"/>
              </a:spcAft>
              <a:buFont typeface="Arial"/>
              <a:buChar char="•"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Тиражі газет і «товстих» журналів злетіли — номери передавали з рук у руки і читали в чергах</a:t>
            </a:r>
          </a:p>
          <a:p>
            <a:pPr indent="-219456" marL="219456" algn="l">
              <a:lnSpc>
                <a:spcPct val="110000"/>
              </a:lnSpc>
              <a:spcAft>
                <a:spcPts val="1300"/>
              </a:spcAft>
              <a:buFont typeface="Arial"/>
              <a:buChar char="•"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Телебачення показувало прямі трансляції з'їздів народних депутатів, країна дивилася їх як серіал</a:t>
            </a:r>
          </a:p>
          <a:p>
            <a:pPr indent="-219456" marL="219456" algn="l">
              <a:lnSpc>
                <a:spcPct val="110000"/>
              </a:lnSpc>
              <a:spcAft>
                <a:spcPts val="1300"/>
              </a:spcAft>
              <a:buFont typeface="Arial"/>
              <a:buChar char="•"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Почали повертати імена й тексти, за які ще кілька років тому давали строк</a:t>
            </a:r>
          </a:p>
          <a:p>
            <a:pPr indent="-219456" marL="219456" algn="l">
              <a:lnSpc>
                <a:spcPct val="110000"/>
              </a:lnSpc>
              <a:spcAft>
                <a:spcPts val="1300"/>
              </a:spcAft>
              <a:buFont typeface="Arial"/>
              <a:buChar char="•"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Червень 1990 — закон СРСР про пресу офіційно скасував цензуру</a:t>
            </a:r>
          </a:p>
        </p:txBody>
      </p:sp>
      <p:pic>
        <p:nvPicPr>
          <p:cNvPr id="7" name="Picture 6" descr="wkp_stamp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271" y="2646197"/>
            <a:ext cx="3383280" cy="1629613"/>
          </a:xfrm>
          <a:prstGeom prst="rect">
            <a:avLst/>
          </a:prstGeom>
          <a:ln w="9525">
            <a:solidFill>
              <a:srgbClr val="ABC0D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891271" y="4339818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950" b="0" i="1">
                <a:solidFill>
                  <a:srgbClr val="4B5E78"/>
                </a:solidFill>
                <a:latin typeface="Times New Roman"/>
                <a:cs typeface="Times New Roman"/>
                <a:ea typeface="Times New Roman"/>
              </a:rPr>
              <a:t>«Перестройка — это творчество масс», марка 1988 р.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10819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marL="0" indent="0">
              <a:buNone/>
            </a:pPr>
            <a:r>
              <a:rPr sz="1050" b="0" i="0">
                <a:solidFill>
                  <a:srgbClr val="4B5E78"/>
                </a:solidFill>
                <a:latin typeface="Times New Roman"/>
                <a:cs typeface="Times New Roman"/>
                <a:ea typeface="Times New Roman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8912" y="365760"/>
            <a:ext cx="11311128" cy="6126480"/>
          </a:xfrm>
          <a:prstGeom prst="roundRect">
            <a:avLst>
              <a:gd name="adj" fmla="val 2500"/>
            </a:avLst>
          </a:prstGeom>
          <a:solidFill>
            <a:srgbClr val="FFFFFF">
              <a:alpha val="72000"/>
            </a:srgbClr>
          </a:solidFill>
          <a:ln w="12700">
            <a:solidFill>
              <a:srgbClr val="9CB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566928"/>
            <a:ext cx="10360151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>
              <a:buNone/>
            </a:pPr>
            <a:r>
              <a:rPr sz="2700" b="1" i="0">
                <a:solidFill>
                  <a:srgbClr val="243B5C"/>
                </a:solidFill>
                <a:latin typeface="Times New Roman"/>
                <a:cs typeface="Times New Roman"/>
                <a:ea typeface="Times New Roman"/>
              </a:rPr>
              <a:t>Чорнобиль: 26 квітня 1986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89888"/>
            <a:ext cx="10360151" cy="13970"/>
          </a:xfrm>
          <a:prstGeom prst="rect">
            <a:avLst/>
          </a:prstGeom>
          <a:solidFill>
            <a:srgbClr val="8FA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17904"/>
            <a:ext cx="6473951" cy="4745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 algn="l">
              <a:lnSpc>
                <a:spcPct val="110000"/>
              </a:lnSpc>
              <a:spcAft>
                <a:spcPts val="1300"/>
              </a:spcAft>
              <a:buNone/>
            </a:pPr>
            <a:r>
              <a:rPr sz="16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Аварія на ЧАЕС стала першою серйозною перевіркою гласності — і влада її провалила. Про вибух офіційно повідомили лише 28 квітня, коротким повідомленням. 1 травня в Києві все одно вивели людей на першотравневу демонстрацію. Горбачов звернувся до людей аж 14 травня — майже через три тижні після вибуху.</a:t>
            </a:r>
          </a:p>
          <a:p>
            <a:pPr marL="0" indent="0" algn="l">
              <a:lnSpc>
                <a:spcPct val="110000"/>
              </a:lnSpc>
              <a:spcAft>
                <a:spcPts val="1300"/>
              </a:spcAft>
              <a:buNone/>
            </a:pPr>
            <a:r>
              <a:rPr sz="16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Саме після Чорнобиля багато хто в Україні вперше подумав: якщо про таке мовчать, то про що ще мовчать? Екологія стала першою «легальною» темою, під якою можна було критикувати владу. А вже під цією темою почалися розмови про все інше — про мову, історію, права, врешті про саму систему.</a:t>
            </a:r>
          </a:p>
        </p:txBody>
      </p:sp>
      <p:pic>
        <p:nvPicPr>
          <p:cNvPr id="7" name="Picture 6" descr="wkp_reacto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7735" y="1517904"/>
            <a:ext cx="2530352" cy="3886200"/>
          </a:xfrm>
          <a:prstGeom prst="rect">
            <a:avLst/>
          </a:prstGeom>
          <a:ln w="9525">
            <a:solidFill>
              <a:srgbClr val="ABC0D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891271" y="5468112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950" b="0" i="1">
                <a:solidFill>
                  <a:srgbClr val="4B5E78"/>
                </a:solidFill>
                <a:latin typeface="Times New Roman"/>
                <a:cs typeface="Times New Roman"/>
                <a:ea typeface="Times New Roman"/>
              </a:rPr>
              <a:t>Зруйнований четвертий енергоблок ЧАЕС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10819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marL="0" indent="0">
              <a:buNone/>
            </a:pPr>
            <a:r>
              <a:rPr sz="1050" b="0" i="0">
                <a:solidFill>
                  <a:srgbClr val="4B5E78"/>
                </a:solidFill>
                <a:latin typeface="Times New Roman"/>
                <a:cs typeface="Times New Roman"/>
                <a:ea typeface="Times New Roman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8912" y="365760"/>
            <a:ext cx="11311128" cy="6126480"/>
          </a:xfrm>
          <a:prstGeom prst="roundRect">
            <a:avLst>
              <a:gd name="adj" fmla="val 2500"/>
            </a:avLst>
          </a:prstGeom>
          <a:solidFill>
            <a:srgbClr val="FFFFFF">
              <a:alpha val="72000"/>
            </a:srgbClr>
          </a:solidFill>
          <a:ln w="12700">
            <a:solidFill>
              <a:srgbClr val="9CB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566928"/>
            <a:ext cx="10360151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>
              <a:buNone/>
            </a:pPr>
            <a:r>
              <a:rPr sz="2700" b="1" i="0">
                <a:solidFill>
                  <a:srgbClr val="243B5C"/>
                </a:solidFill>
                <a:latin typeface="Times New Roman"/>
                <a:cs typeface="Times New Roman"/>
                <a:ea typeface="Times New Roman"/>
              </a:rPr>
              <a:t>Література виходить із шухляд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89888"/>
            <a:ext cx="10360151" cy="13970"/>
          </a:xfrm>
          <a:prstGeom prst="rect">
            <a:avLst/>
          </a:prstGeom>
          <a:solidFill>
            <a:srgbClr val="8FA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17904"/>
            <a:ext cx="6473951" cy="4745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 algn="l">
              <a:lnSpc>
                <a:spcPct val="110000"/>
              </a:lnSpc>
              <a:spcAft>
                <a:spcPts val="1300"/>
              </a:spcAft>
              <a:buNone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Найпомітніше гласність спрацювала саме в культурі. У журналах «Київ», «Дніпро», «Вітчизна», у газеті «Літературна Україна» почали друкувати те, що десятиліттями лежало в спецсховищах.</a:t>
            </a:r>
          </a:p>
          <a:p>
            <a:pPr indent="-219456" marL="219456" algn="l">
              <a:lnSpc>
                <a:spcPct val="110000"/>
              </a:lnSpc>
              <a:spcAft>
                <a:spcPts val="1300"/>
              </a:spcAft>
              <a:buFont typeface="Arial"/>
              <a:buChar char="•"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«Розстріляне відродження»: Микола Хвильовий, Микола Зеров, Лесь Курбас, Григорій Косинка</a:t>
            </a:r>
          </a:p>
          <a:p>
            <a:pPr indent="-219456" marL="219456" algn="l">
              <a:lnSpc>
                <a:spcPct val="110000"/>
              </a:lnSpc>
              <a:spcAft>
                <a:spcPts val="1300"/>
              </a:spcAft>
              <a:buFont typeface="Arial"/>
              <a:buChar char="•"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Василь Стус — вірші, які за життя ходили лише в самвидаві; 1991 року йому посмертно присудили Шевченківську премію</a:t>
            </a:r>
          </a:p>
          <a:p>
            <a:pPr indent="-219456" marL="219456" algn="l">
              <a:lnSpc>
                <a:spcPct val="110000"/>
              </a:lnSpc>
              <a:spcAft>
                <a:spcPts val="1300"/>
              </a:spcAft>
              <a:buFont typeface="Arial"/>
              <a:buChar char="•"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Еміграційна класика: Іван Багряний, Улас Самчук, Василь Барка</a:t>
            </a:r>
          </a:p>
          <a:p>
            <a:pPr indent="-219456" marL="219456" algn="l">
              <a:lnSpc>
                <a:spcPct val="110000"/>
              </a:lnSpc>
              <a:spcAft>
                <a:spcPts val="1300"/>
              </a:spcAft>
              <a:buFont typeface="Arial"/>
              <a:buChar char="•"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Листопад 1989 — прах Стуса, Литвина і Тихого перепоховали в Києві; це була величезна публічна подія</a:t>
            </a:r>
          </a:p>
        </p:txBody>
      </p:sp>
      <p:pic>
        <p:nvPicPr>
          <p:cNvPr id="7" name="Picture 6" descr="wkp_stu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9358" y="1517904"/>
            <a:ext cx="3147106" cy="3886200"/>
          </a:xfrm>
          <a:prstGeom prst="rect">
            <a:avLst/>
          </a:prstGeom>
          <a:ln w="9525">
            <a:solidFill>
              <a:srgbClr val="ABC0D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891271" y="5468112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950" b="0" i="1">
                <a:solidFill>
                  <a:srgbClr val="4B5E78"/>
                </a:solidFill>
                <a:latin typeface="Times New Roman"/>
                <a:cs typeface="Times New Roman"/>
                <a:ea typeface="Times New Roman"/>
              </a:rPr>
              <a:t>Василь Стус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10819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marL="0" indent="0">
              <a:buNone/>
            </a:pPr>
            <a:r>
              <a:rPr sz="1050" b="0" i="0">
                <a:solidFill>
                  <a:srgbClr val="4B5E78"/>
                </a:solidFill>
                <a:latin typeface="Times New Roman"/>
                <a:cs typeface="Times New Roman"/>
                <a:ea typeface="Times New Roman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8912" y="365760"/>
            <a:ext cx="11311128" cy="6126480"/>
          </a:xfrm>
          <a:prstGeom prst="roundRect">
            <a:avLst>
              <a:gd name="adj" fmla="val 2500"/>
            </a:avLst>
          </a:prstGeom>
          <a:solidFill>
            <a:srgbClr val="FFFFFF">
              <a:alpha val="72000"/>
            </a:srgbClr>
          </a:solidFill>
          <a:ln w="12700">
            <a:solidFill>
              <a:srgbClr val="9CB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566928"/>
            <a:ext cx="10360151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>
              <a:buNone/>
            </a:pPr>
            <a:r>
              <a:rPr sz="2700" b="1" i="0">
                <a:solidFill>
                  <a:srgbClr val="243B5C"/>
                </a:solidFill>
                <a:latin typeface="Times New Roman"/>
                <a:cs typeface="Times New Roman"/>
                <a:ea typeface="Times New Roman"/>
              </a:rPr>
              <a:t>Самвидав і діаспора виходять з підпілля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89888"/>
            <a:ext cx="10360151" cy="13970"/>
          </a:xfrm>
          <a:prstGeom prst="rect">
            <a:avLst/>
          </a:prstGeom>
          <a:solidFill>
            <a:srgbClr val="8FA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17904"/>
            <a:ext cx="6473951" cy="4745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 algn="l">
              <a:lnSpc>
                <a:spcPct val="110000"/>
              </a:lnSpc>
              <a:spcAft>
                <a:spcPts val="1300"/>
              </a:spcAft>
              <a:buNone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Ще до 1987 року самвидав тягнув на кримінальну статтю, а діаспорні видання називали «антирадянщиною». Минуло кілька років — і ті самі тексти спокійно лежали в кіосках.</a:t>
            </a:r>
          </a:p>
          <a:p>
            <a:pPr indent="-219456" marL="219456" algn="l">
              <a:lnSpc>
                <a:spcPct val="110000"/>
              </a:lnSpc>
              <a:spcAft>
                <a:spcPts val="1300"/>
              </a:spcAft>
              <a:buFont typeface="Arial"/>
              <a:buChar char="•"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У 1987–1988 роках з'являються неформальні журнали і перші незалежні видання</a:t>
            </a:r>
          </a:p>
          <a:p>
            <a:pPr indent="-219456" marL="219456" algn="l">
              <a:lnSpc>
                <a:spcPct val="110000"/>
              </a:lnSpc>
              <a:spcAft>
                <a:spcPts val="1300"/>
              </a:spcAft>
              <a:buFont typeface="Arial"/>
              <a:buChar char="•"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Те, що роками передруковували на машинці, нарешті виходить нормальним тиражем</a:t>
            </a:r>
          </a:p>
          <a:p>
            <a:pPr indent="-219456" marL="219456" algn="l">
              <a:lnSpc>
                <a:spcPct val="110000"/>
              </a:lnSpc>
              <a:spcAft>
                <a:spcPts val="1300"/>
              </a:spcAft>
              <a:buFont typeface="Arial"/>
              <a:buChar char="•"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Твори авторів діаспори починають повертатися в Україну</a:t>
            </a:r>
          </a:p>
          <a:p>
            <a:pPr marL="0" indent="0" algn="l">
              <a:lnSpc>
                <a:spcPct val="110000"/>
              </a:lnSpc>
              <a:spcAft>
                <a:spcPts val="1300"/>
              </a:spcAft>
              <a:buNone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Тобто гласність не створила цю літературу. Вона просто прибрала стіну, за якою та вже давно існувала.</a:t>
            </a:r>
          </a:p>
        </p:txBody>
      </p:sp>
      <p:pic>
        <p:nvPicPr>
          <p:cNvPr id="7" name="Picture 6" descr="wkp_bahriany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4556" y="1517904"/>
            <a:ext cx="2556710" cy="3886200"/>
          </a:xfrm>
          <a:prstGeom prst="rect">
            <a:avLst/>
          </a:prstGeom>
          <a:ln w="9525">
            <a:solidFill>
              <a:srgbClr val="ABC0D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891271" y="5468112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950" b="0" i="1">
                <a:solidFill>
                  <a:srgbClr val="4B5E78"/>
                </a:solidFill>
                <a:latin typeface="Times New Roman"/>
                <a:cs typeface="Times New Roman"/>
                <a:ea typeface="Times New Roman"/>
              </a:rPr>
              <a:t>Іван Багряний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10819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marL="0" indent="0">
              <a:buNone/>
            </a:pPr>
            <a:r>
              <a:rPr sz="1050" b="0" i="0">
                <a:solidFill>
                  <a:srgbClr val="4B5E78"/>
                </a:solidFill>
                <a:latin typeface="Times New Roman"/>
                <a:cs typeface="Times New Roman"/>
                <a:ea typeface="Times New Roman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8912" y="365760"/>
            <a:ext cx="11311128" cy="6126480"/>
          </a:xfrm>
          <a:prstGeom prst="roundRect">
            <a:avLst>
              <a:gd name="adj" fmla="val 2500"/>
            </a:avLst>
          </a:prstGeom>
          <a:solidFill>
            <a:srgbClr val="FFFFFF">
              <a:alpha val="72000"/>
            </a:srgbClr>
          </a:solidFill>
          <a:ln w="12700">
            <a:solidFill>
              <a:srgbClr val="9CB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566928"/>
            <a:ext cx="10360151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>
              <a:buNone/>
            </a:pPr>
            <a:r>
              <a:rPr sz="2700" b="1" i="0">
                <a:solidFill>
                  <a:srgbClr val="243B5C"/>
                </a:solidFill>
                <a:latin typeface="Times New Roman"/>
                <a:cs typeface="Times New Roman"/>
                <a:ea typeface="Times New Roman"/>
              </a:rPr>
              <a:t>Мова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89888"/>
            <a:ext cx="10360151" cy="13970"/>
          </a:xfrm>
          <a:prstGeom prst="rect">
            <a:avLst/>
          </a:prstGeom>
          <a:solidFill>
            <a:srgbClr val="8FA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17904"/>
            <a:ext cx="6473951" cy="4745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19456" marL="219456" algn="l">
              <a:lnSpc>
                <a:spcPct val="110000"/>
              </a:lnSpc>
              <a:spcAft>
                <a:spcPts val="1300"/>
              </a:spcAft>
              <a:buFont typeface="Arial"/>
              <a:buChar char="•"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Лютий 1989 — створено Товариство української мови імені Тараса Шевченка</a:t>
            </a:r>
          </a:p>
          <a:p>
            <a:pPr indent="-219456" marL="219456" algn="l">
              <a:lnSpc>
                <a:spcPct val="110000"/>
              </a:lnSpc>
              <a:spcAft>
                <a:spcPts val="1300"/>
              </a:spcAft>
              <a:buFont typeface="Arial"/>
              <a:buChar char="•"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28 жовтня 1989 — Верховна Рада УРСР ухвалила Закон «Про мови в Українській РСР»: українська вперше офіційно отримала статус державної</a:t>
            </a:r>
          </a:p>
          <a:p>
            <a:pPr indent="-219456" marL="219456" algn="l">
              <a:lnSpc>
                <a:spcPct val="110000"/>
              </a:lnSpc>
              <a:spcAft>
                <a:spcPts val="1300"/>
              </a:spcAft>
              <a:buFont typeface="Arial"/>
              <a:buChar char="•"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Закон впроваджували поетапно, і на практиці він працював слабо — але сам факт був проривом</a:t>
            </a:r>
          </a:p>
          <a:p>
            <a:pPr marL="0" indent="0" algn="l">
              <a:lnSpc>
                <a:spcPct val="110000"/>
              </a:lnSpc>
              <a:spcAft>
                <a:spcPts val="1300"/>
              </a:spcAft>
              <a:buNone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Мовне питання виявилося дуже зручним входом у політику: воно звучало «культурно», а насправді йшлося про те, чия це держава.</a:t>
            </a:r>
          </a:p>
        </p:txBody>
      </p:sp>
      <p:pic>
        <p:nvPicPr>
          <p:cNvPr id="7" name="Picture 6" descr="wkp_tu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271" y="2274993"/>
            <a:ext cx="3383280" cy="2372020"/>
          </a:xfrm>
          <a:prstGeom prst="rect">
            <a:avLst/>
          </a:prstGeom>
          <a:ln w="9525">
            <a:solidFill>
              <a:srgbClr val="ABC0D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891271" y="4711022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950" b="0" i="1">
                <a:solidFill>
                  <a:srgbClr val="4B5E78"/>
                </a:solidFill>
                <a:latin typeface="Times New Roman"/>
                <a:cs typeface="Times New Roman"/>
                <a:ea typeface="Times New Roman"/>
              </a:rPr>
              <a:t>Установчі збори Товариства української мови, 1989 р.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10819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marL="0" indent="0">
              <a:buNone/>
            </a:pPr>
            <a:r>
              <a:rPr sz="1050" b="0" i="0">
                <a:solidFill>
                  <a:srgbClr val="4B5E78"/>
                </a:solidFill>
                <a:latin typeface="Times New Roman"/>
                <a:cs typeface="Times New Roman"/>
                <a:ea typeface="Times New Roman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8912" y="365760"/>
            <a:ext cx="11311128" cy="6126480"/>
          </a:xfrm>
          <a:prstGeom prst="roundRect">
            <a:avLst>
              <a:gd name="adj" fmla="val 2500"/>
            </a:avLst>
          </a:prstGeom>
          <a:solidFill>
            <a:srgbClr val="FFFFFF">
              <a:alpha val="72000"/>
            </a:srgbClr>
          </a:solidFill>
          <a:ln w="12700">
            <a:solidFill>
              <a:srgbClr val="9CB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566928"/>
            <a:ext cx="10360151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>
              <a:buNone/>
            </a:pPr>
            <a:r>
              <a:rPr sz="2700" b="1" i="0">
                <a:solidFill>
                  <a:srgbClr val="243B5C"/>
                </a:solidFill>
                <a:latin typeface="Times New Roman"/>
                <a:cs typeface="Times New Roman"/>
                <a:ea typeface="Times New Roman"/>
              </a:rPr>
              <a:t>Люди, які повернулися з таборів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89888"/>
            <a:ext cx="10360151" cy="13970"/>
          </a:xfrm>
          <a:prstGeom prst="rect">
            <a:avLst/>
          </a:prstGeom>
          <a:solidFill>
            <a:srgbClr val="8FA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17904"/>
            <a:ext cx="6473951" cy="4745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 algn="l">
              <a:lnSpc>
                <a:spcPct val="110000"/>
              </a:lnSpc>
              <a:spcAft>
                <a:spcPts val="1300"/>
              </a:spcAft>
              <a:buNone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З 1987 року почали звільняти політв'язнів. Дисиденти, яких система викреслила з життя, раптом стали публічними людьми — їх друкували, запрошували на мітинги, обирали депутатами.</a:t>
            </a:r>
          </a:p>
          <a:p>
            <a:pPr indent="-219456" marL="219456" algn="l">
              <a:lnSpc>
                <a:spcPct val="110000"/>
              </a:lnSpc>
              <a:spcAft>
                <a:spcPts val="1300"/>
              </a:spcAft>
              <a:buFont typeface="Arial"/>
              <a:buChar char="•"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7 липня 1988 у Львові оголосили про створення Української Гельсінської спілки — першої масової опозиційної організації</a:t>
            </a:r>
          </a:p>
          <a:p>
            <a:pPr indent="-219456" marL="219456" algn="l">
              <a:lnSpc>
                <a:spcPct val="110000"/>
              </a:lnSpc>
              <a:spcAft>
                <a:spcPts val="1300"/>
              </a:spcAft>
              <a:buFont typeface="Arial"/>
              <a:buChar char="•"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В'ячеслав Чорновіл, Левко Лук'яненко, брати Горині: вчорашні в'язні — завтрашні депутати</a:t>
            </a:r>
          </a:p>
          <a:p>
            <a:pPr indent="-219456" marL="219456" algn="l">
              <a:lnSpc>
                <a:spcPct val="110000"/>
              </a:lnSpc>
              <a:spcAft>
                <a:spcPts val="1300"/>
              </a:spcAft>
              <a:buFont typeface="Arial"/>
              <a:buChar char="•"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1989 — виникає товариство «Меморіал», уперше публічно говорять про Голодомор і масові репресії</a:t>
            </a:r>
          </a:p>
        </p:txBody>
      </p:sp>
      <p:pic>
        <p:nvPicPr>
          <p:cNvPr id="7" name="Picture 6" descr="wkp_chornovi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271" y="1621949"/>
            <a:ext cx="3383280" cy="3678108"/>
          </a:xfrm>
          <a:prstGeom prst="rect">
            <a:avLst/>
          </a:prstGeom>
          <a:ln w="9525">
            <a:solidFill>
              <a:srgbClr val="ABC0D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891271" y="5364066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950" b="0" i="1">
                <a:solidFill>
                  <a:srgbClr val="4B5E78"/>
                </a:solidFill>
                <a:latin typeface="Times New Roman"/>
                <a:cs typeface="Times New Roman"/>
                <a:ea typeface="Times New Roman"/>
              </a:rPr>
              <a:t>В'ячеслав Чорновіл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10819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marL="0" indent="0">
              <a:buNone/>
            </a:pPr>
            <a:r>
              <a:rPr sz="1050" b="0" i="0">
                <a:solidFill>
                  <a:srgbClr val="4B5E78"/>
                </a:solidFill>
                <a:latin typeface="Times New Roman"/>
                <a:cs typeface="Times New Roman"/>
                <a:ea typeface="Times New Roman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8912" y="365760"/>
            <a:ext cx="11311128" cy="6126480"/>
          </a:xfrm>
          <a:prstGeom prst="roundRect">
            <a:avLst>
              <a:gd name="adj" fmla="val 2500"/>
            </a:avLst>
          </a:prstGeom>
          <a:solidFill>
            <a:srgbClr val="FFFFFF">
              <a:alpha val="72000"/>
            </a:srgbClr>
          </a:solidFill>
          <a:ln w="12700">
            <a:solidFill>
              <a:srgbClr val="9CB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566928"/>
            <a:ext cx="10360151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>
              <a:buNone/>
            </a:pPr>
            <a:r>
              <a:rPr sz="2700" b="1" i="0">
                <a:solidFill>
                  <a:srgbClr val="243B5C"/>
                </a:solidFill>
                <a:latin typeface="Times New Roman"/>
                <a:cs typeface="Times New Roman"/>
                <a:ea typeface="Times New Roman"/>
              </a:rPr>
              <a:t>Народний рух України, вересень 1989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89888"/>
            <a:ext cx="10360151" cy="13970"/>
          </a:xfrm>
          <a:prstGeom prst="rect">
            <a:avLst/>
          </a:prstGeom>
          <a:solidFill>
            <a:srgbClr val="8FA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17904"/>
            <a:ext cx="6473951" cy="4745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 algn="l">
              <a:lnSpc>
                <a:spcPct val="110000"/>
              </a:lnSpc>
              <a:spcAft>
                <a:spcPts val="1300"/>
              </a:spcAft>
              <a:buNone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8–10 вересня 1989 року в Києві пройшов установчий з'їзд Народного руху України за перебудову. Саме «за перебудову» — інакше його б просто не дозволили.</a:t>
            </a:r>
          </a:p>
          <a:p>
            <a:pPr indent="-219456" marL="219456" algn="l">
              <a:lnSpc>
                <a:spcPct val="110000"/>
              </a:lnSpc>
              <a:spcAft>
                <a:spcPts val="1300"/>
              </a:spcAft>
              <a:buFont typeface="Arial"/>
              <a:buChar char="•"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Ідею підтримали письменники: Іван Драч, Дмитро Павличко та інші зі Спілки письменників України</a:t>
            </a:r>
          </a:p>
          <a:p>
            <a:pPr indent="-219456" marL="219456" algn="l">
              <a:lnSpc>
                <a:spcPct val="110000"/>
              </a:lnSpc>
              <a:spcAft>
                <a:spcPts val="1300"/>
              </a:spcAft>
              <a:buFont typeface="Arial"/>
              <a:buChar char="•"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Проєкт програми надрукували в «Літературній Україні» ще в лютому 1989 — і це був скандал</a:t>
            </a:r>
          </a:p>
          <a:p>
            <a:pPr indent="-219456" marL="219456" algn="l">
              <a:lnSpc>
                <a:spcPct val="110000"/>
              </a:lnSpc>
              <a:spcAft>
                <a:spcPts val="1300"/>
              </a:spcAft>
              <a:buFont typeface="Arial"/>
              <a:buChar char="•"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Уже за рік Рух відкрито говорив не про оновлений Союз, а про незалежність</a:t>
            </a:r>
          </a:p>
        </p:txBody>
      </p:sp>
      <p:pic>
        <p:nvPicPr>
          <p:cNvPr id="7" name="Picture 6" descr="wkp_rukh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271" y="2269356"/>
            <a:ext cx="3383280" cy="2383295"/>
          </a:xfrm>
          <a:prstGeom prst="rect">
            <a:avLst/>
          </a:prstGeom>
          <a:ln w="9525">
            <a:solidFill>
              <a:srgbClr val="ABC0D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891271" y="4716659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950" b="0" i="1">
                <a:solidFill>
                  <a:srgbClr val="4B5E78"/>
                </a:solidFill>
                <a:latin typeface="Times New Roman"/>
                <a:cs typeface="Times New Roman"/>
                <a:ea typeface="Times New Roman"/>
              </a:rPr>
              <a:t>Установчий з'їзд Народного руху України, 1989 р.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10819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marL="0" indent="0">
              <a:buNone/>
            </a:pPr>
            <a:r>
              <a:rPr sz="1050" b="0" i="0">
                <a:solidFill>
                  <a:srgbClr val="4B5E78"/>
                </a:solidFill>
                <a:latin typeface="Times New Roman"/>
                <a:cs typeface="Times New Roman"/>
                <a:ea typeface="Times New Roman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8912" y="365760"/>
            <a:ext cx="11311128" cy="6126480"/>
          </a:xfrm>
          <a:prstGeom prst="roundRect">
            <a:avLst>
              <a:gd name="adj" fmla="val 2500"/>
            </a:avLst>
          </a:prstGeom>
          <a:solidFill>
            <a:srgbClr val="FFFFFF">
              <a:alpha val="72000"/>
            </a:srgbClr>
          </a:solidFill>
          <a:ln w="12700">
            <a:solidFill>
              <a:srgbClr val="9CB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566928"/>
            <a:ext cx="10360151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>
              <a:buNone/>
            </a:pPr>
            <a:r>
              <a:rPr sz="2700" b="1" i="0">
                <a:solidFill>
                  <a:srgbClr val="243B5C"/>
                </a:solidFill>
                <a:latin typeface="Times New Roman"/>
                <a:cs typeface="Times New Roman"/>
                <a:ea typeface="Times New Roman"/>
              </a:rPr>
              <a:t>1989: країна виходить на вулицю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89888"/>
            <a:ext cx="10360151" cy="13970"/>
          </a:xfrm>
          <a:prstGeom prst="rect">
            <a:avLst/>
          </a:prstGeom>
          <a:solidFill>
            <a:srgbClr val="8FA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17904"/>
            <a:ext cx="6473951" cy="4745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19456" marL="219456" algn="l">
              <a:lnSpc>
                <a:spcPct val="110000"/>
              </a:lnSpc>
              <a:spcAft>
                <a:spcPts val="1300"/>
              </a:spcAft>
              <a:buFont typeface="Arial"/>
              <a:buChar char="•"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Липень 1989 — масові страйки шахтарів Донбасу; економічні вимоги дуже швидко стали політичними</a:t>
            </a:r>
          </a:p>
          <a:p>
            <a:pPr indent="-219456" marL="219456" algn="l">
              <a:lnSpc>
                <a:spcPct val="110000"/>
              </a:lnSpc>
              <a:spcAft>
                <a:spcPts val="1300"/>
              </a:spcAft>
              <a:buFont typeface="Arial"/>
              <a:buChar char="•"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1989–1990 — легалізація Української греко-католицької церкви і відродження УАПЦ</a:t>
            </a:r>
          </a:p>
          <a:p>
            <a:pPr indent="-219456" marL="219456" algn="l">
              <a:lnSpc>
                <a:spcPct val="110000"/>
              </a:lnSpc>
              <a:spcAft>
                <a:spcPts val="1300"/>
              </a:spcAft>
              <a:buFont typeface="Arial"/>
              <a:buChar char="•"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1990 — святкування 500-річчя українського козацтва збирає сотні тисяч людей</a:t>
            </a:r>
          </a:p>
          <a:p>
            <a:pPr indent="-219456" marL="219456" algn="l">
              <a:lnSpc>
                <a:spcPct val="110000"/>
              </a:lnSpc>
              <a:spcAft>
                <a:spcPts val="1300"/>
              </a:spcAft>
              <a:buFont typeface="Arial"/>
              <a:buChar char="•"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На мітингах з'являються синьо-жовті прапори, яких ще кілька років тому боялися</a:t>
            </a:r>
          </a:p>
          <a:p>
            <a:pPr marL="0" indent="0" algn="l">
              <a:lnSpc>
                <a:spcPct val="110000"/>
              </a:lnSpc>
              <a:spcAft>
                <a:spcPts val="1300"/>
              </a:spcAft>
              <a:buNone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Мітинг перестав бути чимось екзотичним. Люди звикли, що на вулицю можна вийти — і за це нічого не буде.</a:t>
            </a:r>
          </a:p>
        </p:txBody>
      </p:sp>
      <p:pic>
        <p:nvPicPr>
          <p:cNvPr id="7" name="Picture 6" descr="wkp_kozatstv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271" y="2340292"/>
            <a:ext cx="3383280" cy="2241423"/>
          </a:xfrm>
          <a:prstGeom prst="rect">
            <a:avLst/>
          </a:prstGeom>
          <a:ln w="9525">
            <a:solidFill>
              <a:srgbClr val="ABC0D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891271" y="4645723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950" b="0" i="1">
                <a:solidFill>
                  <a:srgbClr val="4B5E78"/>
                </a:solidFill>
                <a:latin typeface="Times New Roman"/>
                <a:cs typeface="Times New Roman"/>
                <a:ea typeface="Times New Roman"/>
              </a:rPr>
              <a:t>Похід до 500-річчя українського козацтва, 1990 р.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10819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marL="0" indent="0">
              <a:buNone/>
            </a:pPr>
            <a:r>
              <a:rPr sz="1050" b="0" i="0">
                <a:solidFill>
                  <a:srgbClr val="4B5E78"/>
                </a:solidFill>
                <a:latin typeface="Times New Roman"/>
                <a:cs typeface="Times New Roman"/>
                <a:ea typeface="Times New Roman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8912" y="365760"/>
            <a:ext cx="11311128" cy="6126480"/>
          </a:xfrm>
          <a:prstGeom prst="roundRect">
            <a:avLst>
              <a:gd name="adj" fmla="val 2500"/>
            </a:avLst>
          </a:prstGeom>
          <a:solidFill>
            <a:srgbClr val="FFFFFF">
              <a:alpha val="72000"/>
            </a:srgbClr>
          </a:solidFill>
          <a:ln w="12700">
            <a:solidFill>
              <a:srgbClr val="9CB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566928"/>
            <a:ext cx="10360151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>
              <a:buNone/>
            </a:pPr>
            <a:r>
              <a:rPr sz="2700" b="1" i="0">
                <a:solidFill>
                  <a:srgbClr val="243B5C"/>
                </a:solidFill>
                <a:latin typeface="Times New Roman"/>
                <a:cs typeface="Times New Roman"/>
                <a:ea typeface="Times New Roman"/>
              </a:rPr>
              <a:t>Живий ланцюг, 21 січня 1990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89888"/>
            <a:ext cx="10360151" cy="13970"/>
          </a:xfrm>
          <a:prstGeom prst="rect">
            <a:avLst/>
          </a:prstGeom>
          <a:solidFill>
            <a:srgbClr val="8FA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17904"/>
            <a:ext cx="6473951" cy="4745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 algn="l">
              <a:lnSpc>
                <a:spcPct val="110000"/>
              </a:lnSpc>
              <a:spcAft>
                <a:spcPts val="1300"/>
              </a:spcAft>
              <a:buNone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До 71-ї річниці Акту Злуки Народний рух організував живий ланцюг від Івано-Франківська через Львів до Києва — понад 770 кілометрів.</a:t>
            </a:r>
          </a:p>
          <a:p>
            <a:pPr indent="-219456" marL="219456" algn="l">
              <a:lnSpc>
                <a:spcPct val="110000"/>
              </a:lnSpc>
              <a:spcAft>
                <a:spcPts val="1300"/>
              </a:spcAft>
              <a:buFont typeface="Arial"/>
              <a:buChar char="•"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За офіційними радянськими даними — близько 450 тисяч учасників; за оцінками організаторів — від одного до п'яти мільйонів</a:t>
            </a:r>
          </a:p>
          <a:p>
            <a:pPr indent="-219456" marL="219456" algn="l">
              <a:lnSpc>
                <a:spcPct val="110000"/>
              </a:lnSpc>
              <a:spcAft>
                <a:spcPts val="1300"/>
              </a:spcAft>
              <a:buFont typeface="Arial"/>
              <a:buChar char="•"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Взірцем був «Балтійський шлях» 1989 року</a:t>
            </a:r>
          </a:p>
          <a:p>
            <a:pPr indent="-219456" marL="219456" algn="l">
              <a:lnSpc>
                <a:spcPct val="110000"/>
              </a:lnSpc>
              <a:spcAft>
                <a:spcPts val="1300"/>
              </a:spcAft>
              <a:buFont typeface="Arial"/>
              <a:buChar char="•"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Ініціатором акції був член секретаріату Руху Михайло Горинь</a:t>
            </a:r>
          </a:p>
          <a:p>
            <a:pPr marL="0" indent="0" algn="l">
              <a:lnSpc>
                <a:spcPct val="110000"/>
              </a:lnSpc>
              <a:spcAft>
                <a:spcPts val="1300"/>
              </a:spcAft>
              <a:buNone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Це був момент, коли стало видно: це вже не купка активістів, це маса людей.</a:t>
            </a:r>
          </a:p>
        </p:txBody>
      </p:sp>
      <p:pic>
        <p:nvPicPr>
          <p:cNvPr id="7" name="Picture 6" descr="wkp_lancju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271" y="1821461"/>
            <a:ext cx="3383280" cy="3279084"/>
          </a:xfrm>
          <a:prstGeom prst="rect">
            <a:avLst/>
          </a:prstGeom>
          <a:ln w="9525">
            <a:solidFill>
              <a:srgbClr val="ABC0D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891271" y="5164554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950" b="0" i="1">
                <a:solidFill>
                  <a:srgbClr val="4B5E78"/>
                </a:solidFill>
                <a:latin typeface="Times New Roman"/>
                <a:cs typeface="Times New Roman"/>
                <a:ea typeface="Times New Roman"/>
              </a:rPr>
              <a:t>Живий ланцюг, 21 січня 1990 р.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10819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marL="0" indent="0">
              <a:buNone/>
            </a:pPr>
            <a:r>
              <a:rPr sz="1050" b="0" i="0">
                <a:solidFill>
                  <a:srgbClr val="4B5E78"/>
                </a:solidFill>
                <a:latin typeface="Times New Roman"/>
                <a:cs typeface="Times New Roman"/>
                <a:ea typeface="Times New Roman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8912" y="365760"/>
            <a:ext cx="11311128" cy="6126480"/>
          </a:xfrm>
          <a:prstGeom prst="roundRect">
            <a:avLst>
              <a:gd name="adj" fmla="val 2500"/>
            </a:avLst>
          </a:prstGeom>
          <a:solidFill>
            <a:srgbClr val="FFFFFF">
              <a:alpha val="72000"/>
            </a:srgbClr>
          </a:solidFill>
          <a:ln w="12700">
            <a:solidFill>
              <a:srgbClr val="9CB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566928"/>
            <a:ext cx="10360151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>
              <a:buNone/>
            </a:pPr>
            <a:r>
              <a:rPr sz="2700" b="1" i="0">
                <a:solidFill>
                  <a:srgbClr val="243B5C"/>
                </a:solidFill>
                <a:latin typeface="Times New Roman"/>
                <a:cs typeface="Times New Roman"/>
                <a:ea typeface="Times New Roman"/>
              </a:rPr>
              <a:t>1990: рік, коли все прискорилося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89888"/>
            <a:ext cx="10360151" cy="13970"/>
          </a:xfrm>
          <a:prstGeom prst="rect">
            <a:avLst/>
          </a:prstGeom>
          <a:solidFill>
            <a:srgbClr val="8FA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17904"/>
            <a:ext cx="6473951" cy="4745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19456" marL="219456" algn="l">
              <a:lnSpc>
                <a:spcPct val="110000"/>
              </a:lnSpc>
              <a:spcAft>
                <a:spcPts val="1300"/>
              </a:spcAft>
              <a:buFont typeface="Arial"/>
              <a:buChar char="•"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Березень 1990 — перші відносно вільні вибори до Верховної Ради УРСР; демократи створюють «Народну раду» (126 мандатів) проти комуністичної «групи 239»</a:t>
            </a:r>
          </a:p>
          <a:p>
            <a:pPr indent="-219456" marL="219456" algn="l">
              <a:lnSpc>
                <a:spcPct val="110000"/>
              </a:lnSpc>
              <a:spcAft>
                <a:spcPts val="1300"/>
              </a:spcAft>
              <a:buFont typeface="Arial"/>
              <a:buChar char="•"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16 липня 1990 — ухвалено Декларацію про державний суверенітет України, 355 голосів «за»</a:t>
            </a:r>
          </a:p>
          <a:p>
            <a:pPr indent="-219456" marL="219456" algn="l">
              <a:lnSpc>
                <a:spcPct val="110000"/>
              </a:lnSpc>
              <a:spcAft>
                <a:spcPts val="1300"/>
              </a:spcAft>
              <a:buFont typeface="Arial"/>
              <a:buChar char="•"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24 липня 1990 — над Київрадою вперше піднімають синьо-жовтий прапор</a:t>
            </a:r>
          </a:p>
          <a:p>
            <a:pPr indent="-219456" marL="219456" algn="l">
              <a:lnSpc>
                <a:spcPct val="110000"/>
              </a:lnSpc>
              <a:spcAft>
                <a:spcPts val="1300"/>
              </a:spcAft>
              <a:buFont typeface="Arial"/>
              <a:buChar char="•"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2–17 жовтня 1990 — Революція на граніті: студентське голодування на площі Жовтневої революції. Верховна Рада ухвалює постанову про виконання вимог, голова Ради Міністрів Віталій Масол іде у відставку</a:t>
            </a:r>
          </a:p>
        </p:txBody>
      </p:sp>
      <p:pic>
        <p:nvPicPr>
          <p:cNvPr id="7" name="Picture 6" descr="wkp_granit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5586" y="1517904"/>
            <a:ext cx="2914650" cy="3886200"/>
          </a:xfrm>
          <a:prstGeom prst="rect">
            <a:avLst/>
          </a:prstGeom>
          <a:ln w="9525">
            <a:solidFill>
              <a:srgbClr val="ABC0D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891271" y="5468112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950" b="0" i="1">
                <a:solidFill>
                  <a:srgbClr val="4B5E78"/>
                </a:solidFill>
                <a:latin typeface="Times New Roman"/>
                <a:cs typeface="Times New Roman"/>
                <a:ea typeface="Times New Roman"/>
              </a:rPr>
              <a:t>Вимоги учасників студентського голодування, жовтень 1990 р.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10819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marL="0" indent="0">
              <a:buNone/>
            </a:pPr>
            <a:r>
              <a:rPr sz="1050" b="0" i="0">
                <a:solidFill>
                  <a:srgbClr val="4B5E78"/>
                </a:solidFill>
                <a:latin typeface="Times New Roman"/>
                <a:cs typeface="Times New Roman"/>
                <a:ea typeface="Times New Roman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8912" y="365760"/>
            <a:ext cx="11311128" cy="6126480"/>
          </a:xfrm>
          <a:prstGeom prst="roundRect">
            <a:avLst>
              <a:gd name="adj" fmla="val 2500"/>
            </a:avLst>
          </a:prstGeom>
          <a:solidFill>
            <a:srgbClr val="FFFFFF">
              <a:alpha val="72000"/>
            </a:srgbClr>
          </a:solidFill>
          <a:ln w="12700">
            <a:solidFill>
              <a:srgbClr val="9CB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566928"/>
            <a:ext cx="10360151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>
              <a:buNone/>
            </a:pPr>
            <a:r>
              <a:rPr sz="2700" b="1" i="0">
                <a:solidFill>
                  <a:srgbClr val="243B5C"/>
                </a:solidFill>
                <a:latin typeface="Times New Roman"/>
                <a:cs typeface="Times New Roman"/>
                <a:ea typeface="Times New Roman"/>
              </a:rPr>
              <a:t>1991: фінал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89888"/>
            <a:ext cx="10360151" cy="13970"/>
          </a:xfrm>
          <a:prstGeom prst="rect">
            <a:avLst/>
          </a:prstGeom>
          <a:solidFill>
            <a:srgbClr val="8FA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17904"/>
            <a:ext cx="6473951" cy="4745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19456" marL="219456" algn="l">
              <a:lnSpc>
                <a:spcPct val="110000"/>
              </a:lnSpc>
              <a:spcAft>
                <a:spcPts val="1300"/>
              </a:spcAft>
              <a:buFont typeface="Arial"/>
              <a:buChar char="•"/>
            </a:pPr>
            <a:r>
              <a:rPr sz="18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19–21 серпня 1991 — спроба перевороту в Москві (ГКЧП) провалилася</a:t>
            </a:r>
          </a:p>
          <a:p>
            <a:pPr indent="-219456" marL="219456" algn="l">
              <a:lnSpc>
                <a:spcPct val="110000"/>
              </a:lnSpc>
              <a:spcAft>
                <a:spcPts val="1300"/>
              </a:spcAft>
              <a:buFont typeface="Arial"/>
              <a:buChar char="•"/>
            </a:pPr>
            <a:r>
              <a:rPr sz="18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24 серпня 1991 — Верховна Рада ухвалює Акт проголошення незалежності України: 346 голосів «за»</a:t>
            </a:r>
          </a:p>
          <a:p>
            <a:pPr indent="-219456" marL="219456" algn="l">
              <a:lnSpc>
                <a:spcPct val="110000"/>
              </a:lnSpc>
              <a:spcAft>
                <a:spcPts val="1300"/>
              </a:spcAft>
              <a:buFont typeface="Arial"/>
              <a:buChar char="•"/>
            </a:pPr>
            <a:r>
              <a:rPr sz="18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1 грудня 1991 — на референдумі незалежність підтримали 90,32% при явці 84,18%</a:t>
            </a:r>
          </a:p>
          <a:p>
            <a:pPr marL="0" indent="0" algn="l">
              <a:lnSpc>
                <a:spcPct val="110000"/>
              </a:lnSpc>
              <a:spcAft>
                <a:spcPts val="1300"/>
              </a:spcAft>
              <a:buNone/>
            </a:pPr>
            <a:r>
              <a:rPr sz="18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Перебудова закінчилася зовсім не тим, чим замислювалася. Замість оновленого Союзу — п'ятнадцять незалежних держав.</a:t>
            </a:r>
          </a:p>
        </p:txBody>
      </p:sp>
      <p:pic>
        <p:nvPicPr>
          <p:cNvPr id="7" name="Picture 6" descr="wkp_rad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271" y="2336990"/>
            <a:ext cx="3383280" cy="2248026"/>
          </a:xfrm>
          <a:prstGeom prst="rect">
            <a:avLst/>
          </a:prstGeom>
          <a:ln w="9525">
            <a:solidFill>
              <a:srgbClr val="ABC0D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891271" y="4649025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950" b="0" i="1">
                <a:solidFill>
                  <a:srgbClr val="4B5E78"/>
                </a:solidFill>
                <a:latin typeface="Times New Roman"/>
                <a:cs typeface="Times New Roman"/>
                <a:ea typeface="Times New Roman"/>
              </a:rPr>
              <a:t>Голосування за Акт проголошення незалежності, 24 серпня 1991 р.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10819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marL="0" indent="0">
              <a:buNone/>
            </a:pPr>
            <a:r>
              <a:rPr sz="1050" b="0" i="0">
                <a:solidFill>
                  <a:srgbClr val="4B5E78"/>
                </a:solidFill>
                <a:latin typeface="Times New Roman"/>
                <a:cs typeface="Times New Roman"/>
                <a:ea typeface="Times New Roman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8912" y="365760"/>
            <a:ext cx="11311128" cy="6126480"/>
          </a:xfrm>
          <a:prstGeom prst="roundRect">
            <a:avLst>
              <a:gd name="adj" fmla="val 2500"/>
            </a:avLst>
          </a:prstGeom>
          <a:solidFill>
            <a:srgbClr val="FFFFFF">
              <a:alpha val="72000"/>
            </a:srgbClr>
          </a:solidFill>
          <a:ln w="12700">
            <a:solidFill>
              <a:srgbClr val="9CB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566928"/>
            <a:ext cx="10360151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>
              <a:buNone/>
            </a:pPr>
            <a:r>
              <a:rPr sz="2700" b="1" i="0">
                <a:solidFill>
                  <a:srgbClr val="243B5C"/>
                </a:solidFill>
                <a:latin typeface="Times New Roman"/>
                <a:cs typeface="Times New Roman"/>
                <a:ea typeface="Times New Roman"/>
              </a:rPr>
              <a:t>Висновок: чому саме «каталізатор»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89888"/>
            <a:ext cx="10360151" cy="13970"/>
          </a:xfrm>
          <a:prstGeom prst="rect">
            <a:avLst/>
          </a:prstGeom>
          <a:solidFill>
            <a:srgbClr val="8FA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17904"/>
            <a:ext cx="10360151" cy="4745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 algn="l">
              <a:lnSpc>
                <a:spcPct val="110000"/>
              </a:lnSpc>
              <a:spcAft>
                <a:spcPts val="1300"/>
              </a:spcAft>
              <a:buNone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Каталізатор у хімії не створює реакцію — він її пришвидшує. Приблизно так спрацювали перебудова і гласність.</a:t>
            </a:r>
          </a:p>
          <a:p>
            <a:pPr indent="-219456" marL="219456" algn="l">
              <a:lnSpc>
                <a:spcPct val="110000"/>
              </a:lnSpc>
              <a:spcAft>
                <a:spcPts val="1300"/>
              </a:spcAft>
              <a:buFont typeface="Arial"/>
              <a:buChar char="•"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Вони не придумали ані української літератури, ані дисидентів, ані самої ідеї незалежності — усе це вже існувало: у самвидаві, в таборах, у діаспорі</a:t>
            </a:r>
          </a:p>
          <a:p>
            <a:pPr indent="-219456" marL="219456" algn="l">
              <a:lnSpc>
                <a:spcPct val="110000"/>
              </a:lnSpc>
              <a:spcAft>
                <a:spcPts val="1300"/>
              </a:spcAft>
              <a:buFont typeface="Arial"/>
              <a:buChar char="•"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Але вони прибрали цензуру і, головне, страх — і те, що визрівало десятиліттями, вийшло на поверхню за якихось п'ять років</a:t>
            </a:r>
          </a:p>
          <a:p>
            <a:pPr indent="-219456" marL="219456" algn="l">
              <a:lnSpc>
                <a:spcPct val="110000"/>
              </a:lnSpc>
              <a:spcAft>
                <a:spcPts val="1300"/>
              </a:spcAft>
              <a:buFont typeface="Arial"/>
              <a:buChar char="•"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Горбачов хотів оновити Союз, а отримав його розпад: непоганий приклад того, що реформи не завжди йдуть за планом</a:t>
            </a:r>
          </a:p>
          <a:p>
            <a:pPr marL="0" indent="0" algn="l">
              <a:lnSpc>
                <a:spcPct val="110000"/>
              </a:lnSpc>
              <a:spcAft>
                <a:spcPts val="1300"/>
              </a:spcAft>
              <a:buNone/>
            </a:pPr>
            <a:r>
              <a:rPr sz="170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Якщо коротко: гласність відчинила двері — а вийшли в них зовсім не ті, кого чекали.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10819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marL="0" indent="0">
              <a:buNone/>
            </a:pPr>
            <a:r>
              <a:rPr sz="1050" b="0" i="0">
                <a:solidFill>
                  <a:srgbClr val="4B5E78"/>
                </a:solidFill>
                <a:latin typeface="Times New Roman"/>
                <a:cs typeface="Times New Roman"/>
                <a:ea typeface="Times New Roman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8912" y="365760"/>
            <a:ext cx="11311128" cy="6126480"/>
          </a:xfrm>
          <a:prstGeom prst="roundRect">
            <a:avLst>
              <a:gd name="adj" fmla="val 2500"/>
            </a:avLst>
          </a:prstGeom>
          <a:solidFill>
            <a:srgbClr val="FFFFFF">
              <a:alpha val="72000"/>
            </a:srgbClr>
          </a:solidFill>
          <a:ln w="12700">
            <a:solidFill>
              <a:srgbClr val="9CB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566928"/>
            <a:ext cx="10360151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>
              <a:buNone/>
            </a:pPr>
            <a:r>
              <a:rPr sz="2700" b="1" i="0">
                <a:solidFill>
                  <a:srgbClr val="243B5C"/>
                </a:solidFill>
                <a:latin typeface="Times New Roman"/>
                <a:cs typeface="Times New Roman"/>
                <a:ea typeface="Times New Roman"/>
              </a:rPr>
              <a:t>Джерела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89888"/>
            <a:ext cx="10360151" cy="13970"/>
          </a:xfrm>
          <a:prstGeom prst="rect">
            <a:avLst/>
          </a:prstGeom>
          <a:solidFill>
            <a:srgbClr val="8FA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17904"/>
            <a:ext cx="10360151" cy="4745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indent="-219456" marL="219456" algn="l">
              <a:lnSpc>
                <a:spcPct val="110000"/>
              </a:lnSpc>
              <a:spcAft>
                <a:spcPts val="1100"/>
              </a:spcAft>
              <a:buFont typeface="Arial"/>
              <a:buChar char="•"/>
            </a:pPr>
            <a:r>
              <a:rPr sz="135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Енциклопедія історії України (Інститут історії України НАН України): http://www.history.org.ua/</a:t>
            </a:r>
          </a:p>
          <a:p>
            <a:pPr indent="-219456" marL="219456" algn="l">
              <a:lnSpc>
                <a:spcPct val="110000"/>
              </a:lnSpc>
              <a:spcAft>
                <a:spcPts val="1100"/>
              </a:spcAft>
              <a:buFont typeface="Arial"/>
              <a:buChar char="•"/>
            </a:pPr>
            <a:r>
              <a:rPr sz="135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Закон УРСР «Про мови в Українській РСР» (28.10.1989): https://zakon.rada.gov.ua/laws/show/8312-11</a:t>
            </a:r>
          </a:p>
          <a:p>
            <a:pPr indent="-219456" marL="219456" algn="l">
              <a:lnSpc>
                <a:spcPct val="110000"/>
              </a:lnSpc>
              <a:spcAft>
                <a:spcPts val="1100"/>
              </a:spcAft>
              <a:buFont typeface="Arial"/>
              <a:buChar char="•"/>
            </a:pPr>
            <a:r>
              <a:rPr sz="135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Декларація про державний суверенітет України (16.07.1990): https://zakon.rada.gov.ua/laws/show/55-12</a:t>
            </a:r>
          </a:p>
          <a:p>
            <a:pPr indent="-219456" marL="219456" algn="l">
              <a:lnSpc>
                <a:spcPct val="110000"/>
              </a:lnSpc>
              <a:spcAft>
                <a:spcPts val="1100"/>
              </a:spcAft>
              <a:buFont typeface="Arial"/>
              <a:buChar char="•"/>
            </a:pPr>
            <a:r>
              <a:rPr sz="135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Акт проголошення незалежності України (24.08.1991): https://zakon.rada.gov.ua/laws/show/1427-12</a:t>
            </a:r>
          </a:p>
          <a:p>
            <a:pPr indent="-219456" marL="219456" algn="l">
              <a:lnSpc>
                <a:spcPct val="110000"/>
              </a:lnSpc>
              <a:spcAft>
                <a:spcPts val="1100"/>
              </a:spcAft>
              <a:buFont typeface="Arial"/>
              <a:buChar char="•"/>
            </a:pPr>
            <a:r>
              <a:rPr sz="135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Український інститут національної пам'яті: https://uinp.gov.ua/</a:t>
            </a:r>
          </a:p>
          <a:p>
            <a:pPr indent="-219456" marL="219456" algn="l">
              <a:lnSpc>
                <a:spcPct val="110000"/>
              </a:lnSpc>
              <a:spcAft>
                <a:spcPts val="1100"/>
              </a:spcAft>
              <a:buFont typeface="Arial"/>
              <a:buChar char="•"/>
            </a:pPr>
            <a:r>
              <a:rPr sz="135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Вікіпедія: статті «Перебудова», «Народний рух України», «Революція на граніті», «Живий ланцюг», «Чорнобильська катастрофа»</a:t>
            </a:r>
          </a:p>
          <a:p>
            <a:pPr indent="-219456" marL="219456" algn="l">
              <a:lnSpc>
                <a:spcPct val="110000"/>
              </a:lnSpc>
              <a:spcAft>
                <a:spcPts val="1100"/>
              </a:spcAft>
              <a:buFont typeface="Arial"/>
              <a:buChar char="•"/>
            </a:pPr>
            <a:r>
              <a:rPr sz="1350" b="0" i="0">
                <a:solidFill>
                  <a:srgbClr val="1C2633"/>
                </a:solidFill>
                <a:latin typeface="Times New Roman"/>
                <a:cs typeface="Times New Roman"/>
                <a:ea typeface="Times New Roman"/>
              </a:rPr>
              <a:t>Фото: Вікісховище (Wikimedia Commons) та українська Вікіпедія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10819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marL="0" indent="0">
              <a:buNone/>
            </a:pPr>
            <a:r>
              <a:rPr sz="1050" b="0" i="0">
                <a:solidFill>
                  <a:srgbClr val="4B5E78"/>
                </a:solidFill>
                <a:latin typeface="Times New Roman"/>
                <a:cs typeface="Times New Roman"/>
                <a:ea typeface="Times New Roman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2834640"/>
            <a:ext cx="850392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4000" b="1" i="0">
                <a:solidFill>
                  <a:srgbClr val="243B5C"/>
                </a:solidFill>
                <a:latin typeface="Times New Roman"/>
                <a:cs typeface="Times New Roman"/>
                <a:ea typeface="Times New Roman"/>
              </a:rPr>
              <a:t>Дякую за увагу!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